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MYRA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Intelligent Teaching Assistant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LLMs in Academic NLP Curriculum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AI &amp; Data Engineering
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MNIT Jaipur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Why Standard LLMs Fail in Academia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468880" cy="25603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45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Hallucination Risk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2926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Confident but incorrect technical derivations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371600"/>
            <a:ext cx="2468880" cy="25603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18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Knowledge Cutoff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11880" y="2926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Static models lack 2026 research access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309360" y="1371600"/>
            <a:ext cx="2468880" cy="256032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6459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Zero Traceability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46520" y="29260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No citations to verify claims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Standard LLMs are "stochastic parrots" — unreliable for education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RAG Over Fine-Tuning?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Fine-Tuning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RAG (Our Choice)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Knowledge Updates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Static - requires retraining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Dynamic - swap textbooks instantly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Transparency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Black box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Full paper trail via citations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Cost Efficiency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High compute, prone to forgetting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Efficient, preserves base logic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Auditability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Cannot trace answer source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See exact document chunks used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3A8A"/>
                </a:solidFill>
              </a:rPr>
              <a:t>RAG enables verification — essential for academic integrity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Phase 1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Data Ingestion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377440" y="2514600"/>
            <a:ext cx="274320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51760" y="1371600"/>
            <a:ext cx="19202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Phase 2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92024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Two-Stage Retrieval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0" y="2514600"/>
            <a:ext cx="274320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846320" y="1371600"/>
            <a:ext cx="19202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3776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Phase 3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92024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93776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Context Management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766560" y="2514600"/>
            <a:ext cx="274320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7040880" y="1371600"/>
            <a:ext cx="192024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13232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Phase 4</a:t>
            </a:r>
            <a:endParaRPr lang="en-US" sz="12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92024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27432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Evaluation Loop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Modular design: Optimize retrieval and generation independently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Ingestion &amp; Chunking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Loader: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6032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PyPDFLoader with page metadata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Splitter: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RecursiveCharacterTextSplitter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Chunk Size: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700 characters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Overlap: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150 characters (21%)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Filtering: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Remove chunks &lt; 50 chars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1097280"/>
            <a:ext cx="3383280" cy="3200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Why 150-char overlap?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173736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Academic text spans multiple lines: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"The attention mechanism computes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weighted sums based on query-key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similarity. This allows..."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</a:rPr>
              <a:t>Without overlap, definitions split.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3A8A"/>
                </a:solidFill>
              </a:rPr>
              <a:t>Critical for formulas &amp; multi-line definitions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Embedding Workflow &amp; Vector Database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37744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377440" cy="1828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all-MiniLM-L6-v2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Sentence-Transformers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Balanced: speed + quality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Vector Space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377440" cy="1828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384-dimensional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Dense embeddings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Semantic clustering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37744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Storage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377440" cy="18288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FAISS indexing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CPU-optimized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• Sub-linear search time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Similar concepts (e.g., 'Attention' &amp; 'Transformers') cluster in vector space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3A8A"/>
                </a:solidFill>
              </a:rPr>
              <a:t>FAISS enables nearest-neighbor search in O(log n) time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Two-Stage Retrieval Mechanism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5029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10,000+ chunks in vector database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57400" y="1920240"/>
            <a:ext cx="5029200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1: Bi-Encoder → Top-10 candidates (RECALL)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Stage 2: Cross-Encoder → Re-rank (PRECISION)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86200" y="3383280"/>
            <a:ext cx="137160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3383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Final: Top-4 for LLM context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519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41605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Why two stages? Bi-Encoders are fast but noisy. Cross-Encoders are expensive but accurate. Use Bi-Encoder for recall, Cross-Encoder for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&amp; Guardrails: The Math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Cosine Similarity: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=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B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───────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||A|| ||B||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74904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234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Weighted Evaluation Score: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</a:t>
            </a:r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sim(Answer, Context)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+ </a:t>
            </a:r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sim(Query, Context)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786384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Hard Guardrail Rule: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IF 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Score &lt; 0.40 </a:t>
            </a:r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THEN </a:t>
            </a:r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REJECT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answer + display "Information not found in context"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3A8A"/>
                </a:solidFill>
              </a:rPr>
              <a:t>We mathematically verify grounding before showing answers to students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Engineering &amp; Style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468880" cy="26517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630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Dynamic Templates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868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ELI5 mode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Structured format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Hinglish support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280160"/>
            <a:ext cx="2468880" cy="26517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6304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Strict Grounding Rules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0332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Answer ONLY from context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70332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Say "I don't know" if missing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0332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No internal knowledge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1280160"/>
            <a:ext cx="2468880" cy="2651760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Semantic Memory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3796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Embed past interactions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537960" y="3246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Resolve follow-up pronouns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3796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• Maintain coherence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We build a strict "persona" for the AI — it cannot use training data when it should use textbooks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Routing &amp; High Availability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286000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</a:rPr>
              <a:t>User Query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1783080"/>
            <a:ext cx="731520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89120" y="1097280"/>
            <a:ext cx="2286000" cy="1371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097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PRIMARY
</a:t>
            </a:r>
            <a:endParaRPr lang="en-US" sz="14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Groq
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LLaMA 3.3 70B
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D1D5DB"/>
                </a:solidFill>
              </a:rPr>
              <a:t>Ultra-low latency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2560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Fail?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32120" y="2834640"/>
            <a:ext cx="0" cy="73152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3566160"/>
            <a:ext cx="2286000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35661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</a:rPr>
              <a:t>FALLBACK
</a:t>
            </a:r>
            <a:endParaRPr lang="en-US" sz="14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</a:rPr>
              <a:t>Gemini Flash
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D1FAE5"/>
                </a:solidFill>
              </a:rPr>
              <a:t>High reliability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B981"/>
                </a:solidFill>
              </a:rPr>
              <a:t>Automatic failover ensures 99%+ uptime — users never see errors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Interface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4048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Multi-Chat Management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Isolated sessions with persistent 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384048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37160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16636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Dynamic Controls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1965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Real-time sliders for depth &amp; tone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84048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92608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Metadata Visibility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520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Toggle confidence scores &amp; sources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926080"/>
            <a:ext cx="3840480" cy="1188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292608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Citation 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6360" y="35204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Every answer shows [Doc N] references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Professional chat UI + academic tools like source tracking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Engineering Solutions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6576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Mathematical formulas fragment across chunks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97680" y="1691640"/>
            <a:ext cx="457200" cy="0"/>
          </a:xfrm>
          <a:prstGeom prst="line">
            <a:avLst/>
          </a:prstGeom>
          <a:noFill/>
          <a:ln w="508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54880" y="1280160"/>
            <a:ext cx="3749040" cy="82296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✓ Increased overlap to 150 chars (21%)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36576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PDF noise: headers, footers, page numbers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834640"/>
            <a:ext cx="457200" cy="0"/>
          </a:xfrm>
          <a:prstGeom prst="line">
            <a:avLst/>
          </a:prstGeom>
          <a:noFill/>
          <a:ln w="508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2423160"/>
            <a:ext cx="3749040" cy="82296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514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✓ Length-based filter (&lt; 50 chars removed)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365760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Retrieval returns irrelevant context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3977640"/>
            <a:ext cx="457200" cy="0"/>
          </a:xfrm>
          <a:prstGeom prst="line">
            <a:avLst/>
          </a:prstGeom>
          <a:noFill/>
          <a:ln w="5080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54880" y="3566160"/>
            <a:ext cx="3749040" cy="82296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657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✓ Two-stage: Bi-Encoder → Cross-Encoder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3A8A"/>
                </a:solidFill>
              </a:rPr>
              <a:t>Every technical decision was driven by real problems, not tutorials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194560" cy="2011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</a:rPr>
              <a:t>&gt;0.80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Grounding Score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(textbook queries)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194560" cy="2011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645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</a:rPr>
              <a:t>&lt;2s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Average Response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Latency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194560" cy="20116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459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0" y="24688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Source Citation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</a:rPr>
              <a:t>Coverage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404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Key Takeaway: Two-stage retrieval + mathematical guardrails enable safe academic AI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457200" cy="45720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Multi-modal support (diagrams, equations as images)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965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Expand to other domains (Math, Physics, CS Theory)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974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Adaptive difficulty: Auto-detect student level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8328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3337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Learning analytics: Track concept mastery over time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690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5448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Interactive problem generation with step-by-step hints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0" y="338328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MYRA: Making LLMs trustworthy for education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MYRA: Retrieval-Augmented Teaching Assistant</dc:title>
  <dc:subject>PptxGenJS Presentation</dc:subject>
  <dc:creator>MNIT Jaipur - AI &amp; Data Engineering</dc:creator>
  <cp:lastModifiedBy>MNIT Jaipur - AI &amp; Data Engineering</cp:lastModifiedBy>
  <cp:revision>1</cp:revision>
  <dcterms:created xsi:type="dcterms:W3CDTF">2026-05-08T21:48:53Z</dcterms:created>
  <dcterms:modified xsi:type="dcterms:W3CDTF">2026-05-08T21:48:53Z</dcterms:modified>
</cp:coreProperties>
</file>